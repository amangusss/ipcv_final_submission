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52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502920"/>
            <a:ext cx="11183112" cy="190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1188720"/>
            <a:ext cx="11183112" cy="8686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4200" b="1" i="0">
                <a:solidFill>
                  <a:srgbClr val="0A0A0A"/>
                </a:solidFill>
                <a:latin typeface="Calibri"/>
              </a:rPr>
              <a:t>Automatic Image Cropping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2148840"/>
            <a:ext cx="11183112" cy="54864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2400" b="0" i="0">
                <a:solidFill>
                  <a:srgbClr val="222222"/>
                </a:solidFill>
                <a:latin typeface="Calibri"/>
              </a:rPr>
              <a:t>Using Saliency Detection and Edge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834640"/>
            <a:ext cx="11183112" cy="1016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2971800"/>
            <a:ext cx="11183112" cy="4114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400" b="0" i="0">
                <a:solidFill>
                  <a:srgbClr val="888888"/>
                </a:solidFill>
                <a:latin typeface="Calibri"/>
              </a:rPr>
              <a:t>Applied Image Processing  ·  Final Project  ·  April 2026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3931920"/>
            <a:ext cx="2148840" cy="42062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OpenCV</a:t>
            </a:r>
          </a:p>
        </p:txBody>
      </p:sp>
      <p:sp>
        <p:nvSpPr>
          <p:cNvPr id="8" name="Rectangle 7"/>
          <p:cNvSpPr/>
          <p:nvPr/>
        </p:nvSpPr>
        <p:spPr>
          <a:xfrm>
            <a:off x="2761488" y="3931920"/>
            <a:ext cx="2148840" cy="42062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Spectral Residual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0056" y="3931920"/>
            <a:ext cx="2148840" cy="42062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Fine-Grained Saliency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78624" y="3931920"/>
            <a:ext cx="2148840" cy="42062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Canny Edges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37192" y="3931920"/>
            <a:ext cx="2148840" cy="42062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Python 3.14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6309360"/>
            <a:ext cx="11183112" cy="190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82880"/>
            <a:ext cx="11183112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2600" b="1" i="0">
                <a:solidFill>
                  <a:srgbClr val="0A0A0A"/>
                </a:solidFill>
                <a:latin typeface="Calibri"/>
              </a:rP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94944"/>
            <a:ext cx="11183112" cy="15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3617976" cy="42062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3617976" cy="96926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Problem Statement &amp; Motivation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5488" y="1024128"/>
            <a:ext cx="3617976" cy="42062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5488" y="1444752"/>
            <a:ext cx="3617976" cy="96926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Related 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8056" y="1024128"/>
            <a:ext cx="3617976" cy="42062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8068056" y="1444752"/>
            <a:ext cx="3617976" cy="96926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Pipeline Overview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578608"/>
            <a:ext cx="3617976" cy="42062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99232"/>
            <a:ext cx="3617976" cy="96926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Saliency Detection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85488" y="2578608"/>
            <a:ext cx="3617976" cy="42062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85488" y="2999232"/>
            <a:ext cx="3617976" cy="96926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Edge Analysis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68056" y="2578608"/>
            <a:ext cx="3617976" cy="42062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68056" y="2999232"/>
            <a:ext cx="3617976" cy="96926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Crop Scoring Algorithm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133088"/>
            <a:ext cx="3617976" cy="42062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07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53712"/>
            <a:ext cx="3617976" cy="96926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Dataset &amp; Experiments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85488" y="4133088"/>
            <a:ext cx="3617976" cy="42062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85488" y="4553712"/>
            <a:ext cx="3617976" cy="96926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Results &amp; Comparison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68056" y="4133088"/>
            <a:ext cx="3617976" cy="42062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8056" y="4553712"/>
            <a:ext cx="3617976" cy="96926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Conclusion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82880"/>
            <a:ext cx="11183112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2600" b="1" i="0">
                <a:solidFill>
                  <a:srgbClr val="0A0A0A"/>
                </a:solidFill>
                <a:latin typeface="Calibri"/>
              </a:rPr>
              <a:t>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94944"/>
            <a:ext cx="11183112" cy="15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731520"/>
            <a:ext cx="1118311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Why do we need automatic image cropping?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329184" cy="65836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1024128"/>
            <a:ext cx="5070348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Different platforms require different aspect ratios for the same image.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73936"/>
            <a:ext cx="329184" cy="65836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1773936"/>
            <a:ext cx="5070348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Manual re-framing is slow and does not scale to large media libraries.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523744"/>
            <a:ext cx="329184" cy="65836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" y="2523744"/>
            <a:ext cx="5070348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Centre-crop loses off-centre subjects (wildlife, sports action, etc.).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273552"/>
            <a:ext cx="329184" cy="65836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3273552"/>
            <a:ext cx="5070348" cy="65836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Goal: find the sub-region with the highest visual importance automatically.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6772" y="1024128"/>
            <a:ext cx="5509260" cy="493776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16:9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6772" y="1517904"/>
            <a:ext cx="5509260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YouTube / Video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6772" y="2011680"/>
            <a:ext cx="5509260" cy="493776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1:1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6772" y="2505456"/>
            <a:ext cx="5509260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Instagram Square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76772" y="2999232"/>
            <a:ext cx="5509260" cy="493776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9:16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6772" y="3493008"/>
            <a:ext cx="5509260" cy="3291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200" b="0" i="0">
                <a:solidFill>
                  <a:srgbClr val="555555"/>
                </a:solidFill>
                <a:latin typeface="Calibri"/>
              </a:rPr>
              <a:t>Stories / Reels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4187952"/>
            <a:ext cx="11183112" cy="548640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1">
                <a:solidFill>
                  <a:srgbClr val="222222"/>
                </a:solidFill>
                <a:latin typeface="Calibri"/>
              </a:rPr>
              <a:t>Key challenge: define visual 'importance' computationally — combining attention-based saliency with structural edge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82880"/>
            <a:ext cx="11183112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2600" b="1" i="0">
                <a:solidFill>
                  <a:srgbClr val="0A0A0A"/>
                </a:solidFill>
                <a:latin typeface="Calibri"/>
              </a:rPr>
              <a:t>Related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94944"/>
            <a:ext cx="11183112" cy="15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731520"/>
            <a:ext cx="1118311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Literature survey — 5 key references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420624" cy="78638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Rectangle 5"/>
          <p:cNvSpPr/>
          <p:nvPr/>
        </p:nvSpPr>
        <p:spPr>
          <a:xfrm>
            <a:off x="1033272" y="1024128"/>
            <a:ext cx="2834640" cy="7863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1" i="0">
                <a:solidFill>
                  <a:srgbClr val="222222"/>
                </a:solidFill>
                <a:latin typeface="Calibri"/>
              </a:rPr>
              <a:t>Hou &amp; Zhang, CVPR 2007</a:t>
            </a:r>
          </a:p>
        </p:txBody>
      </p:sp>
      <p:sp>
        <p:nvSpPr>
          <p:cNvPr id="7" name="Rectangle 6"/>
          <p:cNvSpPr/>
          <p:nvPr/>
        </p:nvSpPr>
        <p:spPr>
          <a:xfrm>
            <a:off x="3977640" y="1024128"/>
            <a:ext cx="7708392" cy="7863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Spectral Residual Saliency — log-amplitude FFT residual highlights visually novel regions. Basis of the SR branch.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20240"/>
            <a:ext cx="420624" cy="78638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1033272" y="1920240"/>
            <a:ext cx="2834640" cy="7863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1" i="0">
                <a:solidFill>
                  <a:srgbClr val="222222"/>
                </a:solidFill>
                <a:latin typeface="Calibri"/>
              </a:rPr>
              <a:t>Montabone &amp; Soto, IVC 2010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77640" y="1920240"/>
            <a:ext cx="7708392" cy="7863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Fine-Grained Saliency via local CIE-Lab contrast. Spatially precise; integrated in OpenCV as StaticSaliencyFineGrained.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816352"/>
            <a:ext cx="420624" cy="78638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2" y="2816352"/>
            <a:ext cx="2834640" cy="7863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1" i="0">
                <a:solidFill>
                  <a:srgbClr val="222222"/>
                </a:solidFill>
                <a:latin typeface="Calibri"/>
              </a:rPr>
              <a:t>Canny, IEEE TPAMI 1986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40" y="2816352"/>
            <a:ext cx="7708392" cy="7863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Classic edge detector: Gaussian smooth → gradient → NMS → hysteresis thresholding. Benchmark edge method.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712464"/>
            <a:ext cx="420624" cy="78638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33272" y="3712464"/>
            <a:ext cx="2834640" cy="7863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1" i="0">
                <a:solidFill>
                  <a:srgbClr val="222222"/>
                </a:solidFill>
                <a:latin typeface="Calibri"/>
              </a:rPr>
              <a:t>Fang et al., ACM MM 2014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977640" y="3712464"/>
            <a:ext cx="7708392" cy="7863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Content-aware cropping with eye-tracking ground truth. Shows centre-bias prior substantially improves crop selection.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608576"/>
            <a:ext cx="420624" cy="78638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2" y="4608576"/>
            <a:ext cx="2834640" cy="7863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1" i="0">
                <a:solidFill>
                  <a:srgbClr val="222222"/>
                </a:solidFill>
                <a:latin typeface="Calibri"/>
              </a:rPr>
              <a:t>Li et al., CVPR 2018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77640" y="4608576"/>
            <a:ext cx="7708392" cy="7863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200" b="0" i="0">
                <a:solidFill>
                  <a:srgbClr val="555555"/>
                </a:solidFill>
                <a:latin typeface="Calibri"/>
              </a:rPr>
              <a:t>A2-RL: CNN + Reinforcement Learning for cropping. State-of-the-art accuracy but requires GPU and annotated data.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82880"/>
            <a:ext cx="11183112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2600" b="1" i="0">
                <a:solidFill>
                  <a:srgbClr val="0A0A0A"/>
                </a:solidFill>
                <a:latin typeface="Calibri"/>
              </a:rPr>
              <a:t>Pipeline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94944"/>
            <a:ext cx="11183112" cy="15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731520"/>
            <a:ext cx="1118311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End-to-end flow from input image to optimal crop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11183112" cy="56327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82880"/>
            <a:ext cx="11183112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2600" b="1" i="0">
                <a:solidFill>
                  <a:srgbClr val="0A0A0A"/>
                </a:solidFill>
                <a:latin typeface="Calibri"/>
              </a:rPr>
              <a:t>Saliency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94944"/>
            <a:ext cx="11183112" cy="15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731520"/>
            <a:ext cx="1118311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Spectral Residual + Fine-Grained — combined for robust attention maps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11183112" cy="2834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4023360"/>
            <a:ext cx="5509260" cy="13898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Spectral Residual (SR)
FFT → log-amplitude spectrum → subtract smoothed spectrum → IFFT.
Fast, captures global novelty.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76772" y="4023360"/>
            <a:ext cx="5509260" cy="13898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Fine-Grained (FG)
Local CIE-Lab contrast at multiple scales.
Spatially precise; resolves object boundaries.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5522976"/>
            <a:ext cx="11183112" cy="42062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1">
                <a:solidFill>
                  <a:srgbClr val="222222"/>
                </a:solidFill>
                <a:latin typeface="Calibri"/>
              </a:rPr>
              <a:t>Combined:  SAL = 0.4 · SR  +  0.6 · FG     (Gaussian blur σ=11 applied to each map)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82880"/>
            <a:ext cx="11183112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2600" b="1" i="0">
                <a:solidFill>
                  <a:srgbClr val="0A0A0A"/>
                </a:solidFill>
                <a:latin typeface="Calibri"/>
              </a:rPr>
              <a:t>Edge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94944"/>
            <a:ext cx="11183112" cy="15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731520"/>
            <a:ext cx="1118311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Canny + Sobel gradient → smoothed edge-density map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11183112" cy="28346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4023360"/>
            <a:ext cx="329184" cy="5303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" y="4023360"/>
            <a:ext cx="107442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Adaptive Canny: thresholds auto-set from median intensity (σ=0.33). Robust to varied brightness.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645152"/>
            <a:ext cx="329184" cy="5303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" y="4645152"/>
            <a:ext cx="107442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Sobel gradient magnitude: |∇I| = √(Gx² + Gy²). Captures soft transitions.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5266944"/>
            <a:ext cx="329184" cy="5303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" y="5266944"/>
            <a:ext cx="107442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Edge Density: Canny binary map blurred with Gaussian (σ=15) → smooth regional field.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88736"/>
            <a:ext cx="329184" cy="5303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" y="5888736"/>
            <a:ext cx="107442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200" b="0" i="0">
                <a:solidFill>
                  <a:srgbClr val="222222"/>
                </a:solidFill>
                <a:latin typeface="Calibri"/>
              </a:rPr>
              <a:t>Combined: EDGE = 0.6·Canny_density + 0.4·Sobel. Used directly in crop scoring.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82880"/>
            <a:ext cx="11183112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2600" b="1" i="0">
                <a:solidFill>
                  <a:srgbClr val="0A0A0A"/>
                </a:solidFill>
                <a:latin typeface="Calibri"/>
              </a:rPr>
              <a:t>Crop Scoring Algorithm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94944"/>
            <a:ext cx="11183112" cy="15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731520"/>
            <a:ext cx="1118311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Weighted sliding-window search across all valid crop positions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11183112" cy="23774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3566160"/>
            <a:ext cx="329184" cy="5303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41832" y="3566160"/>
            <a:ext cx="107442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Compute crop size: largest window of target aspect ratio that fits the image.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4187952"/>
            <a:ext cx="329184" cy="5303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ectangle 8"/>
          <p:cNvSpPr/>
          <p:nvPr/>
        </p:nvSpPr>
        <p:spPr>
          <a:xfrm>
            <a:off x="941832" y="4187952"/>
            <a:ext cx="107442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Slide window with stride = 5% of image width/height (speed vs. precision balance).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809744"/>
            <a:ext cx="329184" cy="5303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41832" y="4809744"/>
            <a:ext cx="107442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Score each position: weighted mean of saliency, edge density, and centre-bias maps.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431536"/>
            <a:ext cx="329184" cy="530352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" y="5431536"/>
            <a:ext cx="10744200" cy="53035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Select argmax position → output crop image + full metadata report.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82880"/>
            <a:ext cx="11183112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2600" b="1" i="0">
                <a:solidFill>
                  <a:srgbClr val="0A0A0A"/>
                </a:solidFill>
                <a:latin typeface="Calibri"/>
              </a:rPr>
              <a:t>Dataset &amp; Preprocessing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94944"/>
            <a:ext cx="11183112" cy="15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3617976" cy="74980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Nature Scene
720×480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773936"/>
            <a:ext cx="3617976" cy="254203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Off-centre bright sun (top-right)
Gradient sky + forest foreground
Tests salient-object capture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285488" y="1024128"/>
            <a:ext cx="3617976" cy="74980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Portrait Scene
380×540</a:t>
            </a:r>
          </a:p>
        </p:txBody>
      </p:sp>
      <p:sp>
        <p:nvSpPr>
          <p:cNvPr id="7" name="Rectangle 6"/>
          <p:cNvSpPr/>
          <p:nvPr/>
        </p:nvSpPr>
        <p:spPr>
          <a:xfrm>
            <a:off x="4285488" y="1773936"/>
            <a:ext cx="3617976" cy="254203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Face-like blob on cluttered background
Subject near (190, 200)
Tests subject vs. noise</a:t>
            </a:r>
          </a:p>
        </p:txBody>
      </p:sp>
      <p:sp>
        <p:nvSpPr>
          <p:cNvPr id="8" name="Rectangle 7"/>
          <p:cNvSpPr/>
          <p:nvPr/>
        </p:nvSpPr>
        <p:spPr>
          <a:xfrm>
            <a:off x="8068056" y="1024128"/>
            <a:ext cx="3617976" cy="749808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Mixed Scene
800×600</a:t>
            </a:r>
          </a:p>
        </p:txBody>
      </p:sp>
      <p:sp>
        <p:nvSpPr>
          <p:cNvPr id="9" name="Rectangle 8"/>
          <p:cNvSpPr/>
          <p:nvPr/>
        </p:nvSpPr>
        <p:spPr>
          <a:xfrm>
            <a:off x="8068056" y="1773936"/>
            <a:ext cx="3617976" cy="2542032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0">
                <a:solidFill>
                  <a:srgbClr val="222222"/>
                </a:solidFill>
                <a:latin typeface="Calibri"/>
              </a:rPr>
              <a:t>Bright circle + text blocks (competing)
Saliency vs. edge signal balance
Tests multi-signal weighting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80560"/>
            <a:ext cx="11183112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200" b="0" i="1">
                <a:solidFill>
                  <a:srgbClr val="555555"/>
                </a:solidFill>
                <a:latin typeface="Calibri"/>
              </a:rPr>
              <a:t>Preprocessing:  BGR load (OpenCV)  ·  No resizing before scoring  ·  All maps normalised to [0, 1]  ·  SR internally scales to 64×64 for FFT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5065776"/>
            <a:ext cx="11183112" cy="47548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200" b="0" i="1">
                <a:solidFill>
                  <a:srgbClr val="222222"/>
                </a:solidFill>
                <a:latin typeface="Calibri"/>
              </a:rPr>
              <a:t>Real images:  python main.py --input photo.jpg --ratio 16:9   (no training data, no GPU, no model weights required)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82880"/>
            <a:ext cx="11183112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2600" b="1" i="0">
                <a:solidFill>
                  <a:srgbClr val="0A0A0A"/>
                </a:solidFill>
                <a:latin typeface="Calibri"/>
              </a:rPr>
              <a:t>Qualitative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94944"/>
            <a:ext cx="11183112" cy="15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731520"/>
            <a:ext cx="1118311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Nature scene — 4 aspect ratios + full pipeline visualisation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11183112" cy="2734056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922776"/>
            <a:ext cx="11183112" cy="27340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82880"/>
            <a:ext cx="11183112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2600" b="1" i="0">
                <a:solidFill>
                  <a:srgbClr val="0A0A0A"/>
                </a:solidFill>
                <a:latin typeface="Calibri"/>
              </a:rPr>
              <a:t>Quantitative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94944"/>
            <a:ext cx="11183112" cy="15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731520"/>
            <a:ext cx="1118311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Ours vs. Centre Crop vs. Saliency-Only  (1:1 crop, off-centre scenes)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24128"/>
            <a:ext cx="11183112" cy="32918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4480560"/>
            <a:ext cx="3617976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Saliency Coverage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846320"/>
            <a:ext cx="3617976" cy="7863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Ours: +20% over
centre crop (Nature)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285488" y="4480560"/>
            <a:ext cx="3617976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Edge Coverage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4285488" y="4846320"/>
            <a:ext cx="3617976" cy="7863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Ours: +24% over
saliency-only (Mixed)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056" y="4480560"/>
            <a:ext cx="3617976" cy="36576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Composite Score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68056" y="4846320"/>
            <a:ext cx="3617976" cy="78638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200" b="0" i="0">
                <a:solidFill>
                  <a:srgbClr val="222222"/>
                </a:solidFill>
                <a:latin typeface="Calibri"/>
              </a:rPr>
              <a:t>Ours: best in 2/3 scenes;
tied in portrait (centred subject)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82880"/>
            <a:ext cx="11183112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2600" b="1" i="0">
                <a:solidFill>
                  <a:srgbClr val="0A0A0A"/>
                </a:solidFill>
                <a:latin typeface="Calibri"/>
              </a:rPr>
              <a:t>Conclusion &amp;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94944"/>
            <a:ext cx="11183112" cy="15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1024128"/>
            <a:ext cx="5509260" cy="420624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What we achieved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44752"/>
            <a:ext cx="329184" cy="67482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1444752"/>
            <a:ext cx="5070348" cy="674827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Training-free — no GPU, no annotated dataset required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211019"/>
            <a:ext cx="329184" cy="67482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8" name="Rectangle 7"/>
          <p:cNvSpPr/>
          <p:nvPr/>
        </p:nvSpPr>
        <p:spPr>
          <a:xfrm>
            <a:off x="941832" y="2211019"/>
            <a:ext cx="5070348" cy="674827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SR + FG saliency combined for robustness across scene types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977286"/>
            <a:ext cx="329184" cy="67482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" y="2977286"/>
            <a:ext cx="5070348" cy="674827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Adaptive Canny + Sobel captures crisp and soft edges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743553"/>
            <a:ext cx="329184" cy="67482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41832" y="3743553"/>
            <a:ext cx="5070348" cy="674827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7 aspect ratios supported, runs in &lt; 0.5 s per image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4509820"/>
            <a:ext cx="329184" cy="67482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" y="4509820"/>
            <a:ext cx="5070348" cy="674827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Outperforms centre crop by up to +3.6% (composite score)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6772" y="1024128"/>
            <a:ext cx="5509260" cy="420624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Future improvements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6772" y="1444752"/>
            <a:ext cx="329184" cy="67482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15684" y="1444752"/>
            <a:ext cx="5070348" cy="674827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Deep saliency backbone (U²-Net, BASNet) for richer maps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6772" y="2211019"/>
            <a:ext cx="329184" cy="67482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15684" y="2211019"/>
            <a:ext cx="5070348" cy="674827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Rule-of-thirds / golden-ratio aesthetic scoring term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6772" y="2977286"/>
            <a:ext cx="329184" cy="67482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15684" y="2977286"/>
            <a:ext cx="5070348" cy="674827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Face-detection hard constraint (crop must contain faces)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6772" y="3743553"/>
            <a:ext cx="329184" cy="67482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15684" y="3743553"/>
            <a:ext cx="5070348" cy="674827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Evaluation on FCDB and GAICD public benchmarks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76772" y="4509820"/>
            <a:ext cx="329184" cy="674827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615684" y="4509820"/>
            <a:ext cx="5070348" cy="674827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300" b="0" i="0">
                <a:solidFill>
                  <a:srgbClr val="222222"/>
                </a:solidFill>
                <a:latin typeface="Calibri"/>
              </a:rPr>
              <a:t>GPU batch processing for large media libraries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349240"/>
            <a:ext cx="11183112" cy="512064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1">
                <a:solidFill>
                  <a:srgbClr val="555555"/>
                </a:solidFill>
                <a:latin typeface="Calibri"/>
              </a:rPr>
              <a:t>"Combining saliency, edges, and composition bias approaches human-quality crop selection — without any training data."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182880"/>
            <a:ext cx="11183112" cy="43891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2600" b="1" i="0">
                <a:solidFill>
                  <a:srgbClr val="0A0A0A"/>
                </a:solidFill>
                <a:latin typeface="Calibri"/>
              </a:rP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694944"/>
            <a:ext cx="11183112" cy="1524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02920" y="731520"/>
            <a:ext cx="11183112" cy="237744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100" b="0" i="1">
                <a:solidFill>
                  <a:srgbClr val="888888"/>
                </a:solidFill>
                <a:latin typeface="Calibri"/>
              </a:rPr>
              <a:t>Run from the project root directory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24128"/>
            <a:ext cx="11183112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200" b="0" i="1">
                <a:solidFill>
                  <a:srgbClr val="888888"/>
                </a:solidFill>
                <a:latin typeface="Calibri"/>
              </a:rPr>
              <a:t>Run built-in demo
(synthetic scenes, no external images needed)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408176"/>
            <a:ext cx="11183112" cy="67665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700" b="1" i="0">
                <a:solidFill>
                  <a:srgbClr val="0A0A0A"/>
                </a:solidFill>
                <a:latin typeface="Calibri"/>
              </a:rPr>
              <a:t>python demo/demo.py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194560"/>
            <a:ext cx="11183112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200" b="0" i="1">
                <a:solidFill>
                  <a:srgbClr val="888888"/>
                </a:solidFill>
                <a:latin typeface="Calibri"/>
              </a:rPr>
              <a:t>Crop an image to 16:9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578608"/>
            <a:ext cx="11183112" cy="67665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700" b="1" i="0">
                <a:solidFill>
                  <a:srgbClr val="0A0A0A"/>
                </a:solidFill>
                <a:latin typeface="Calibri"/>
              </a:rPr>
              <a:t>python main.py --input photo.jpg --ratio 16:9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3364992"/>
            <a:ext cx="11183112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200" b="0" i="1">
                <a:solidFill>
                  <a:srgbClr val="888888"/>
                </a:solidFill>
                <a:latin typeface="Calibri"/>
              </a:rPr>
              <a:t>Auto-select the best aspect ratio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749040"/>
            <a:ext cx="11183112" cy="67665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700" b="1" i="0">
                <a:solidFill>
                  <a:srgbClr val="0A0A0A"/>
                </a:solidFill>
                <a:latin typeface="Calibri"/>
              </a:rPr>
              <a:t>python main.py --input photo.jpg --best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535424"/>
            <a:ext cx="11183112" cy="384048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200" b="0" i="1">
                <a:solidFill>
                  <a:srgbClr val="888888"/>
                </a:solidFill>
                <a:latin typeface="Calibri"/>
              </a:rPr>
              <a:t>Evaluate vs. baselines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4919472"/>
            <a:ext cx="11183112" cy="676656"/>
          </a:xfrm>
          <a:prstGeom prst="rect">
            <a:avLst/>
          </a:prstGeom>
          <a:solidFill>
            <a:srgbClr val="F2F2F2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l"/>
            <a:r>
              <a:rPr sz="1700" b="1" i="0">
                <a:solidFill>
                  <a:srgbClr val="0A0A0A"/>
                </a:solidFill>
                <a:latin typeface="Calibri"/>
              </a:rPr>
              <a:t>python evaluate.py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870448"/>
            <a:ext cx="11183112" cy="36576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200" b="0" i="1">
                <a:solidFill>
                  <a:srgbClr val="888888"/>
                </a:solidFill>
                <a:latin typeface="Calibri"/>
              </a:rPr>
              <a:t>Outputs saved to  results/demo/  and  results/evaluation/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02920" y="2103120"/>
            <a:ext cx="11183112" cy="190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02920" y="2615565"/>
            <a:ext cx="11183112" cy="11887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5200" b="1" i="0" dirty="0">
                <a:solidFill>
                  <a:srgbClr val="0A0A0A"/>
                </a:solidFill>
                <a:latin typeface="Calibri"/>
              </a:rPr>
              <a:t>Thank You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4297680"/>
            <a:ext cx="11183112" cy="19050"/>
          </a:xfrm>
          <a:prstGeom prst="rect">
            <a:avLst/>
          </a:prstGeom>
          <a:solidFill>
            <a:srgbClr val="0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02920" y="4663440"/>
            <a:ext cx="11183112" cy="64008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91440" tIns="54864" rIns="91440" bIns="54864" rtlCol="0" anchor="ctr"/>
          <a:lstStyle/>
          <a:p>
            <a:pPr algn="ctr"/>
            <a:r>
              <a:rPr sz="1300" b="0" i="1">
                <a:solidFill>
                  <a:srgbClr val="888888"/>
                </a:solidFill>
                <a:latin typeface="Calibri"/>
              </a:rPr>
              <a:t>Automatic Image Cropping Using Saliency Detection and Edge Analysis
Applied Image Processing  ·  April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964</Words>
  <Application>Microsoft Office PowerPoint</Application>
  <PresentationFormat>Произвольный</PresentationFormat>
  <Paragraphs>144</Paragraphs>
  <Slides>14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Aman Nazarkulov</cp:lastModifiedBy>
  <cp:revision>2</cp:revision>
  <dcterms:created xsi:type="dcterms:W3CDTF">2013-01-27T09:14:16Z</dcterms:created>
  <dcterms:modified xsi:type="dcterms:W3CDTF">2026-04-23T10:03:36Z</dcterms:modified>
  <cp:category/>
</cp:coreProperties>
</file>